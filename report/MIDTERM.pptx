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63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loss</c:v>
                </c:pt>
              </c:strCache>
            </c:strRef>
          </c:tx>
          <c:spPr>
            <a:ln w="25400">
              <a:solidFill>
                <a:srgbClr val="1D4ED8"/>
              </a:solidFill>
            </a:ln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0</c:v>
                </c:pt>
                <c:pt idx="5">
                  <c:v>500</c:v>
                </c:pt>
                <c:pt idx="10">
                  <c:v>1000</c:v>
                </c:pt>
                <c:pt idx="15">
                  <c:v>1500</c:v>
                </c:pt>
                <c:pt idx="20">
                  <c:v>2000</c:v>
                </c:pt>
                <c:pt idx="25">
                  <c:v>2500</c:v>
                </c:pt>
                <c:pt idx="30">
                  <c:v>3000</c:v>
                </c:pt>
              </c:strCache>
            </c: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12.29</c:v>
                </c:pt>
                <c:pt idx="1">
                  <c:v>3.21</c:v>
                </c:pt>
                <c:pt idx="2">
                  <c:v>3.01</c:v>
                </c:pt>
                <c:pt idx="3">
                  <c:v>3.03</c:v>
                </c:pt>
                <c:pt idx="4">
                  <c:v>2.82</c:v>
                </c:pt>
                <c:pt idx="5">
                  <c:v>3.08</c:v>
                </c:pt>
                <c:pt idx="6">
                  <c:v>2.97</c:v>
                </c:pt>
                <c:pt idx="7">
                  <c:v>3.19</c:v>
                </c:pt>
                <c:pt idx="8">
                  <c:v>3.38</c:v>
                </c:pt>
                <c:pt idx="9">
                  <c:v>3.1</c:v>
                </c:pt>
                <c:pt idx="10">
                  <c:v>2.9</c:v>
                </c:pt>
                <c:pt idx="11">
                  <c:v>3.25</c:v>
                </c:pt>
                <c:pt idx="12">
                  <c:v>3.07</c:v>
                </c:pt>
                <c:pt idx="13">
                  <c:v>3.12</c:v>
                </c:pt>
                <c:pt idx="14">
                  <c:v>2.99</c:v>
                </c:pt>
                <c:pt idx="15">
                  <c:v>3.22</c:v>
                </c:pt>
                <c:pt idx="16">
                  <c:v>3.21</c:v>
                </c:pt>
                <c:pt idx="17">
                  <c:v>3.06</c:v>
                </c:pt>
                <c:pt idx="18">
                  <c:v>3.17</c:v>
                </c:pt>
                <c:pt idx="19">
                  <c:v>3.16</c:v>
                </c:pt>
                <c:pt idx="20">
                  <c:v>3.19</c:v>
                </c:pt>
                <c:pt idx="21">
                  <c:v>3.29</c:v>
                </c:pt>
                <c:pt idx="22">
                  <c:v>2.67</c:v>
                </c:pt>
                <c:pt idx="23">
                  <c:v>3.31</c:v>
                </c:pt>
                <c:pt idx="24">
                  <c:v>2.87</c:v>
                </c:pt>
                <c:pt idx="25">
                  <c:v>2.8</c:v>
                </c:pt>
                <c:pt idx="26">
                  <c:v>3.04</c:v>
                </c:pt>
                <c:pt idx="27">
                  <c:v>3.15</c:v>
                </c:pt>
                <c:pt idx="28">
                  <c:v>3.1</c:v>
                </c:pt>
                <c:pt idx="29">
                  <c:v>3.02</c:v>
                </c:pt>
                <c:pt idx="30">
                  <c:v>3.02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44A-4CA9-BBD3-1D25D7860F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900">
                <a:solidFill>
                  <a:srgbClr val="98A2B3"/>
                </a:solidFill>
                <a:latin typeface="Microsoft YaHei"/>
              </a:defRPr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4"/>
          <c:min val="0"/>
        </c:scaling>
        <c:delete val="0"/>
        <c:axPos val="l"/>
        <c:majorGridlines>
          <c:spPr>
            <a:ln>
              <a:solidFill>
                <a:srgbClr val="E4E7EC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900">
                <a:solidFill>
                  <a:srgbClr val="98A2B3"/>
                </a:solidFill>
                <a:latin typeface="Microsoft YaHei"/>
              </a:defRPr>
            </a:pPr>
            <a:endParaRPr lang="zh-CN"/>
          </a:p>
        </c:txPr>
        <c:crossAx val="2118791784"/>
        <c:crosses val="autoZero"/>
        <c:crossBetween val="between"/>
        <c:majorUnit val="2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98A2B3"/>
            </a:solidFill>
            <a:ln>
              <a:noFill/>
            </a:ln>
          </c:spPr>
          <c:invertIfNegative val="1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latin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T1 勺子 → 毛巾</c:v>
                </c:pt>
                <c:pt idx="1">
                  <c:v>T2 茄子 → 篮子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</c:v>
                </c:pt>
                <c:pt idx="1">
                  <c:v>20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6FB-4F1C-8EC7-83C0A56BDDC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Final (LoRA)</c:v>
                </c:pt>
              </c:strCache>
            </c:strRef>
          </c:tx>
          <c:spPr>
            <a:solidFill>
              <a:srgbClr val="1D4ED8"/>
            </a:solidFill>
            <a:ln>
              <a:noFill/>
            </a:ln>
          </c:spPr>
          <c:invertIfNegative val="1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latin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T1 勺子 → 毛巾</c:v>
                </c:pt>
                <c:pt idx="1">
                  <c:v>T2 茄子 → 篮子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</c:v>
                </c:pt>
                <c:pt idx="1">
                  <c:v>50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46FB-4F1C-8EC7-83C0A56BDDC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1000">
                <a:solidFill>
                  <a:srgbClr val="667085"/>
                </a:solidFill>
                <a:latin typeface="Microsoft YaHei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60"/>
          <c:min val="0"/>
        </c:scaling>
        <c:delete val="0"/>
        <c:axPos val="l"/>
        <c:majorGridlines>
          <c:spPr>
            <a:ln>
              <a:solidFill>
                <a:srgbClr val="E4E7EC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900">
                <a:solidFill>
                  <a:srgbClr val="98A2B3"/>
                </a:solidFill>
                <a:latin typeface="Microsoft YaHei"/>
              </a:defRPr>
            </a:pPr>
            <a:endParaRPr lang="zh-CN"/>
          </a:p>
        </c:txPr>
        <c:crossAx val="-2068027336"/>
        <c:crosses val="autoZero"/>
        <c:crossBetween val="between"/>
        <c:majorUnit val="20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667085"/>
              </a:solidFill>
              <a:latin typeface="Microsoft YaHei"/>
            </a:defRPr>
          </a:pPr>
          <a:endParaRPr lang="zh-CN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0539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开场用一句话说明题目：用 LoRA 微调 OpenVLA-7B，并在 SimplerEnv 上做闭环评测。强调这是 B 类工程实践，评价重点是链路可复现、结论有证据。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先讲问题设定：为什么直接迁移到仿真会失败；再说明 B 类不要求 Final 一定优于 Base，所以汇报重点放在“做了什么、怎么验证、发现了什么”。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分工按交付物讲，不逐条念名字；点一句“配置和结果同仓”，为后面的可复现性做铺垫。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用这张图把全链路串起来，后面几页分别展开数据、训练、评测三段。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讲两个关键数字：1,584 条任务相关轨迹，以及 LoRA 只更新 1.45% 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这一页是结果可比的前提：固定初始状态、严格 success 判定、Base/Final 共用同一套预处理。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主结果：总分 20.0 → 30.0。主动说明单种子、每任务 10 次，结论按初步信号讲，不要把它说成稳定提升。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按顺序讲三个发现：先排除接口问题，再定位图像域差异，最后说明修正的 prompt 模板问题。这个顺序本身就是在讲“怎么排查”。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工程坑快速带过，重点是说这些都已写进复现文档，换机器能重跑。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已完成讲交付物，下一步讲期末前要补的统计与解释；时间轴只作节奏参考。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用三句话收尾；留出提问时间，附录页用来回答细节问题。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3000" y="1170432"/>
            <a:ext cx="104543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20">
                <a:solidFill>
                  <a:srgbClr val="1D4ED8"/>
                </a:solidFill>
                <a:latin typeface="Microsoft YaHei"/>
                <a:ea typeface="Microsoft YaHei"/>
              </a:rPr>
              <a:t>机器学习课程大作业（B 类）  ·  期中汇报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783080"/>
            <a:ext cx="950976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101828"/>
                </a:solidFill>
                <a:latin typeface="Microsoft YaHei"/>
                <a:ea typeface="Microsoft YaHei"/>
              </a:rPr>
              <a:t>OpenVLA-7B 轻量微调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101828"/>
                </a:solidFill>
                <a:latin typeface="Microsoft YaHei"/>
                <a:ea typeface="Microsoft YaHei"/>
              </a:rPr>
              <a:t>与 SimplerEnv 闭环评测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950208"/>
            <a:ext cx="8961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67085"/>
                </a:solidFill>
                <a:latin typeface="Microsoft YaHei"/>
                <a:ea typeface="Microsoft YaHei"/>
              </a:rPr>
              <a:t>从 BridgeData V2 任务子集筛选，到 LoRA 微调，再到仿真环境中的定量评测与归因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5074920"/>
            <a:ext cx="4023360" cy="15240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5321808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</a:rPr>
              <a:t>组员　</a:t>
            </a:r>
            <a:r>
              <a:rPr sz="1250" b="0" i="0">
                <a:solidFill>
                  <a:srgbClr val="344054"/>
                </a:solidFill>
                <a:latin typeface="Microsoft YaHei"/>
                <a:ea typeface="Microsoft YaHei"/>
              </a:rPr>
              <a:t>胥昊天 · 曹奕伦 · 徐厚泽 · 彭泽宇 · 刘翔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650992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8A2B3"/>
                </a:solidFill>
                <a:latin typeface="Microsoft YaHei"/>
                <a:ea typeface="Microsoft YaHei"/>
              </a:rPr>
              <a:t>2026 年 10 月 26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475488"/>
            <a:ext cx="104543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i="0" spc="180">
                <a:solidFill>
                  <a:srgbClr val="1D4ED8"/>
                </a:solidFill>
                <a:latin typeface="Microsoft YaHei"/>
                <a:ea typeface="Microsoft YaHei"/>
              </a:rPr>
              <a:t>01 / 任务理解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786384"/>
            <a:ext cx="104543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1828"/>
                </a:solidFill>
                <a:latin typeface="Microsoft YaHei"/>
                <a:ea typeface="Microsoft YaHei"/>
              </a:rPr>
              <a:t>要回答的不是“能不能跑通”，而是“提升来自哪里”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481328"/>
            <a:ext cx="10454335" cy="11430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408615" y="642823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2B3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42823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8A2B3"/>
                </a:solidFill>
                <a:latin typeface="Microsoft YaHei"/>
                <a:ea typeface="Microsoft YaHei"/>
              </a:rPr>
              <a:t>机器学习课程大作业（B 类） · 期中汇报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32104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1D4ED8"/>
                </a:solidFill>
                <a:latin typeface="Microsoft YaHei"/>
                <a:ea typeface="Microsoft YaHei"/>
              </a:rPr>
              <a:t>问题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212848"/>
            <a:ext cx="457200" cy="203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3210458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44054"/>
                </a:solidFill>
                <a:latin typeface="Microsoft YaHei"/>
                <a:ea typeface="Microsoft YaHei"/>
              </a:rPr>
              <a:t>OpenVLA-7B 用 BridgeData V2 的真机数据预训练。迁到 SimplerEnv 的仿真渲染后，夹爪容易长期保持张开，任务成功率接近 0。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0618" y="1874519"/>
            <a:ext cx="32104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1D4ED8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90618" y="2212848"/>
            <a:ext cx="457200" cy="203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90618" y="2395728"/>
            <a:ext cx="3210458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44054"/>
                </a:solidFill>
                <a:latin typeface="Microsoft YaHei"/>
                <a:ea typeface="Microsoft YaHei"/>
              </a:rPr>
              <a:t>搭一条可复现的链路：任务相关数据筛选 → LoRA 微调 → 固定协议的闭环评测 → 有证据的归因分析。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2556" y="1874519"/>
            <a:ext cx="32104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1D4ED8"/>
                </a:solidFill>
                <a:latin typeface="Microsoft YaHei"/>
                <a:ea typeface="Microsoft YaHei"/>
              </a:rPr>
              <a:t>边界（B 类）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12556" y="2212848"/>
            <a:ext cx="457200" cy="203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12556" y="2395728"/>
            <a:ext cx="3210458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44054"/>
                </a:solidFill>
                <a:latin typeface="Microsoft YaHei"/>
                <a:ea typeface="Microsoft YaHei"/>
              </a:rPr>
              <a:t>不要求 Final 一定优于 Base。要求流程真实、结果可复核，并对失败给出解释，而不是只报一个分数。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892040"/>
            <a:ext cx="10454335" cy="841248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24712" y="5047488"/>
            <a:ext cx="994227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67085"/>
                </a:solidFill>
                <a:latin typeface="Microsoft YaHei"/>
                <a:ea typeface="Microsoft YaHei"/>
              </a:rPr>
              <a:t>两个评测任务　</a:t>
            </a:r>
            <a:r>
              <a:rPr sz="1300" b="1" i="0">
                <a:solidFill>
                  <a:srgbClr val="101828"/>
                </a:solidFill>
                <a:latin typeface="Microsoft YaHei"/>
                <a:ea typeface="Microsoft YaHei"/>
              </a:rPr>
              <a:t>T1  put the spoon on the towel</a:t>
            </a:r>
            <a:r>
              <a:rPr sz="1300" b="0" i="0">
                <a:solidFill>
                  <a:srgbClr val="98A2B3"/>
                </a:solidFill>
                <a:latin typeface="Microsoft YaHei"/>
                <a:ea typeface="Microsoft YaHei"/>
              </a:rPr>
              <a:t>　｜　</a:t>
            </a:r>
            <a:r>
              <a:rPr sz="1300" b="1" i="0">
                <a:solidFill>
                  <a:srgbClr val="101828"/>
                </a:solidFill>
                <a:latin typeface="Microsoft YaHei"/>
                <a:ea typeface="Microsoft YaHei"/>
              </a:rPr>
              <a:t>T2  put eggplant into yellow basket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475488"/>
            <a:ext cx="104543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i="0" spc="180">
                <a:solidFill>
                  <a:srgbClr val="1D4ED8"/>
                </a:solidFill>
                <a:latin typeface="Microsoft YaHei"/>
                <a:ea typeface="Microsoft YaHei"/>
              </a:rPr>
              <a:t>02 / 组队与分工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786384"/>
            <a:ext cx="104543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1828"/>
                </a:solidFill>
                <a:latin typeface="Microsoft YaHei"/>
                <a:ea typeface="Microsoft YaHei"/>
              </a:rPr>
              <a:t>5 个人，按“可交付物”切分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481328"/>
            <a:ext cx="10454335" cy="11430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408615" y="642823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2B3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42823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8A2B3"/>
                </a:solidFill>
                <a:latin typeface="Microsoft YaHei"/>
                <a:ea typeface="Microsoft YaHei"/>
              </a:rPr>
              <a:t>机器学习课程大作业（B 类） · 期中汇报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301061"/>
              </p:ext>
            </p:extLst>
          </p:nvPr>
        </p:nvGraphicFramePr>
        <p:xfrm>
          <a:off x="868680" y="1783080"/>
          <a:ext cx="10451592" cy="292608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99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667085"/>
                          </a:solidFill>
                          <a:latin typeface="Microsoft YaHei"/>
                          <a:ea typeface="Microsoft YaHei"/>
                        </a:rPr>
                        <a:t>成员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667085"/>
                          </a:solidFill>
                          <a:latin typeface="Microsoft YaHei"/>
                          <a:ea typeface="Microsoft YaHei"/>
                        </a:rPr>
                        <a:t>学号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667085"/>
                          </a:solidFill>
                          <a:latin typeface="Microsoft YaHei"/>
                          <a:ea typeface="Microsoft YaHei"/>
                        </a:rPr>
                        <a:t>负责模块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667085"/>
                          </a:solidFill>
                          <a:latin typeface="Microsoft YaHei"/>
                          <a:ea typeface="Microsoft YaHei"/>
                        </a:rPr>
                        <a:t>交付物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胥昊天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26213050409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项目统筹；环境与数据管线；LoRA 训练与最终评测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训练脚本、最终结果、报告整合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曹奕伦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26113050003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BridgeData 筛选与 RLDS 构建；训练日志与验证 loss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RLDS 数据集、val loss 分析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徐厚泽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26113050327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SimplerEnv 评测脚本；初始状态清单；逐 episode 汇总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评测脚本、episodes.csv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彭泽宇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26213050317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视频采集；代表性 episode 与失败原因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40 条评测视频、案例分析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刘翔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26113050287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环境部署；模型与文献调研；复现文档、报告校对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可使用环境、</a:t>
                      </a: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环境文档、报告校对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8680" y="4956048"/>
            <a:ext cx="104543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00">
                <a:solidFill>
                  <a:srgbClr val="1D4ED8"/>
                </a:solidFill>
                <a:latin typeface="Microsoft YaHei"/>
                <a:ea typeface="Microsoft YaHei"/>
              </a:rPr>
              <a:t>协作机制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285232"/>
            <a:ext cx="104543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200" b="1" i="0">
                <a:solidFill>
                  <a:srgbClr val="1D4ED8"/>
                </a:solidFill>
                <a:latin typeface="Microsoft YaHei"/>
                <a:ea typeface="Microsoft YaHei"/>
              </a:rPr>
              <a:t>•  </a:t>
            </a:r>
            <a:r>
              <a:rPr sz="1200" b="1" i="0">
                <a:solidFill>
                  <a:srgbClr val="344054"/>
                </a:solidFill>
                <a:latin typeface="Microsoft YaHei"/>
                <a:ea typeface="Microsoft YaHei"/>
              </a:rPr>
              <a:t>单一 GitHub 仓库</a:t>
            </a:r>
            <a:r>
              <a:rPr sz="1200" b="0" i="0">
                <a:solidFill>
                  <a:srgbClr val="344054"/>
                </a:solidFill>
                <a:latin typeface="Microsoft YaHei"/>
                <a:ea typeface="Microsoft YaHei"/>
              </a:rPr>
              <a:t>：代码、配置、日志、视频、报告同源，避免“本地结果对不上”。</a:t>
            </a:r>
          </a:p>
          <a:p>
            <a:pPr>
              <a:lnSpc>
                <a:spcPct val="125000"/>
              </a:lnSpc>
              <a:spcBef>
                <a:spcPts val="400"/>
              </a:spcBef>
            </a:pPr>
            <a:r>
              <a:rPr sz="1200" b="1" i="0">
                <a:solidFill>
                  <a:srgbClr val="1D4ED8"/>
                </a:solidFill>
                <a:latin typeface="Microsoft YaHei"/>
                <a:ea typeface="Microsoft YaHei"/>
              </a:rPr>
              <a:t>•  </a:t>
            </a:r>
            <a:r>
              <a:rPr sz="1200" b="1" i="0">
                <a:solidFill>
                  <a:srgbClr val="344054"/>
                </a:solidFill>
                <a:latin typeface="Microsoft YaHei"/>
                <a:ea typeface="Microsoft YaHei"/>
              </a:rPr>
              <a:t>评测配置版本化</a:t>
            </a:r>
            <a:r>
              <a:rPr sz="1200" b="0" i="0">
                <a:solidFill>
                  <a:srgbClr val="344054"/>
                </a:solidFill>
                <a:latin typeface="Microsoft YaHei"/>
                <a:ea typeface="Microsoft YaHei"/>
              </a:rPr>
              <a:t>：初始状态清单与预处理参数进 git，Base / Final 完全共用。</a:t>
            </a:r>
          </a:p>
          <a:p>
            <a:pPr>
              <a:lnSpc>
                <a:spcPct val="125000"/>
              </a:lnSpc>
              <a:spcBef>
                <a:spcPts val="400"/>
              </a:spcBef>
            </a:pPr>
            <a:r>
              <a:rPr sz="1200" b="1" i="0">
                <a:solidFill>
                  <a:srgbClr val="1D4ED8"/>
                </a:solidFill>
                <a:latin typeface="Microsoft YaHei"/>
                <a:ea typeface="Microsoft YaHei"/>
              </a:rPr>
              <a:t>•  </a:t>
            </a:r>
            <a:r>
              <a:rPr sz="1200" b="1" i="0">
                <a:solidFill>
                  <a:srgbClr val="344054"/>
                </a:solidFill>
                <a:latin typeface="Microsoft YaHei"/>
                <a:ea typeface="Microsoft YaHei"/>
              </a:rPr>
              <a:t>评测串行</a:t>
            </a:r>
            <a:r>
              <a:rPr sz="1200" b="0" i="0">
                <a:solidFill>
                  <a:srgbClr val="344054"/>
                </a:solidFill>
                <a:latin typeface="Microsoft YaHei"/>
                <a:ea typeface="Microsoft YaHei"/>
              </a:rPr>
              <a:t>：两个模型独立进程、固定 GPU 0 运行，排除并发干扰。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475488"/>
            <a:ext cx="104543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i="0" spc="180">
                <a:solidFill>
                  <a:srgbClr val="1D4ED8"/>
                </a:solidFill>
                <a:latin typeface="Microsoft YaHei"/>
                <a:ea typeface="Microsoft YaHei"/>
              </a:rPr>
              <a:t>03 / 技术方案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786384"/>
            <a:ext cx="104543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1828"/>
                </a:solidFill>
                <a:latin typeface="Microsoft YaHei"/>
                <a:ea typeface="Microsoft YaHei"/>
              </a:rPr>
              <a:t>一条链路，五段都可以重跑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481328"/>
            <a:ext cx="10454335" cy="11430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408615" y="642823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2B3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42823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8A2B3"/>
                </a:solidFill>
                <a:latin typeface="Microsoft YaHei"/>
                <a:ea typeface="Microsoft YaHei"/>
              </a:rPr>
              <a:t>机器学习课程大作业（B 类） · 期中汇报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965960"/>
            <a:ext cx="1847088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" y="2148840"/>
            <a:ext cx="148132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20">
                <a:solidFill>
                  <a:srgbClr val="1D4ED8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432304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1828"/>
                </a:solidFill>
                <a:latin typeface="Microsoft YaHei"/>
                <a:ea typeface="Microsoft YaHei"/>
              </a:rPr>
              <a:t>数据筛选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816352"/>
            <a:ext cx="148132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Microsoft YaHei"/>
                <a:ea typeface="Microsoft YaHei"/>
              </a:rPr>
              <a:t>BridgeData V2 · WidowX
1,584 条任务相关轨迹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766060" y="2770632"/>
            <a:ext cx="173736" cy="164592"/>
          </a:xfrm>
          <a:prstGeom prst="rightArrow">
            <a:avLst/>
          </a:prstGeom>
          <a:solidFill>
            <a:srgbClr val="98A2B3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990087" y="1965960"/>
            <a:ext cx="1847088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91256" y="2148840"/>
            <a:ext cx="148132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20">
                <a:solidFill>
                  <a:srgbClr val="1D4ED8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91256" y="2432304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1828"/>
                </a:solidFill>
                <a:latin typeface="Microsoft YaHei"/>
                <a:ea typeface="Microsoft YaHei"/>
              </a:rPr>
              <a:t>RLDS 构建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91256" y="2816352"/>
            <a:ext cx="148132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Microsoft YaHei"/>
                <a:ea typeface="Microsoft YaHei"/>
              </a:rPr>
              <a:t>train 1,506 · val 78
按整条轨迹划分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87467" y="2770632"/>
            <a:ext cx="173736" cy="164592"/>
          </a:xfrm>
          <a:prstGeom prst="rightArrow">
            <a:avLst/>
          </a:prstGeom>
          <a:solidFill>
            <a:srgbClr val="98A2B3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11496" y="1965960"/>
            <a:ext cx="1847088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12664" y="2148840"/>
            <a:ext cx="148132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20">
                <a:solidFill>
                  <a:srgbClr val="1D4ED8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2664" y="2432304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1828"/>
                </a:solidFill>
                <a:latin typeface="Microsoft YaHei"/>
                <a:ea typeface="Microsoft YaHei"/>
              </a:rPr>
              <a:t>LoRA 微调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2664" y="2816352"/>
            <a:ext cx="148132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Microsoft YaHei"/>
                <a:ea typeface="Microsoft YaHei"/>
              </a:rPr>
              <a:t>rank 32 · all-linear
3000 步 · 约 48 分钟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008875" y="2770632"/>
            <a:ext cx="173736" cy="164592"/>
          </a:xfrm>
          <a:prstGeom prst="rightArrow">
            <a:avLst/>
          </a:prstGeom>
          <a:solidFill>
            <a:srgbClr val="98A2B3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232903" y="1965960"/>
            <a:ext cx="1847088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34071" y="2148840"/>
            <a:ext cx="148132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20">
                <a:solidFill>
                  <a:srgbClr val="1D4ED8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34071" y="2432304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1828"/>
                </a:solidFill>
                <a:latin typeface="Microsoft YaHei"/>
                <a:ea typeface="Microsoft YaHei"/>
              </a:rPr>
              <a:t>闭环评测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4071" y="2816352"/>
            <a:ext cx="148132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Microsoft YaHei"/>
                <a:ea typeface="Microsoft YaHei"/>
              </a:rPr>
              <a:t>SimplerEnv T1 / T2
object id 0–9 固定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130284" y="2770632"/>
            <a:ext cx="173736" cy="164592"/>
          </a:xfrm>
          <a:prstGeom prst="rightArrow">
            <a:avLst/>
          </a:prstGeom>
          <a:solidFill>
            <a:srgbClr val="98A2B3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354311" y="1965960"/>
            <a:ext cx="1847088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55480" y="2148840"/>
            <a:ext cx="148132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20">
                <a:solidFill>
                  <a:srgbClr val="1D4ED8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2432304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1828"/>
                </a:solidFill>
                <a:latin typeface="Microsoft YaHei"/>
                <a:ea typeface="Microsoft YaHei"/>
              </a:rPr>
              <a:t>结果分析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55480" y="2816352"/>
            <a:ext cx="148132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Microsoft YaHei"/>
                <a:ea typeface="Microsoft YaHei"/>
              </a:rPr>
              <a:t>成功率、逐 episode CSV
成功 / 失败视频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041648"/>
            <a:ext cx="104543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085"/>
                </a:solidFill>
                <a:latin typeface="Microsoft YaHei"/>
                <a:ea typeface="Microsoft YaHei"/>
              </a:rPr>
              <a:t>所有脚本、配置、逐 episode 记录和视频都在仓库里；Final 以 484 MB 的 LoRA adapter 发布，不额外保存 15 GB 合并模型。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681728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01828"/>
                </a:solidFill>
                <a:latin typeface="Microsoft YaHei"/>
                <a:ea typeface="Microsoft YaHei"/>
              </a:rPr>
              <a:t>数据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4681728"/>
            <a:ext cx="93113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44054"/>
                </a:solidFill>
                <a:latin typeface="Microsoft YaHei"/>
                <a:ea typeface="Microsoft YaHei"/>
              </a:rPr>
              <a:t>按语言指令筛四类任务，每类最多 400 条；主视角 256×256、7 维动作、8 维状态。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248656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01828"/>
                </a:solidFill>
                <a:latin typeface="Microsoft YaHei"/>
                <a:ea typeface="Microsoft YaHei"/>
              </a:rPr>
              <a:t>训练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5248656"/>
            <a:ext cx="93113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44054"/>
                </a:solidFill>
                <a:latin typeface="Microsoft YaHei"/>
                <a:ea typeface="Microsoft YaHei"/>
              </a:rPr>
              <a:t>LoRA 只更新 1.45% 参数；单卡 5090 上 3000 步收敛，训练 / 验证划分按轨迹隔离。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5815584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01828"/>
                </a:solidFill>
                <a:latin typeface="Microsoft YaHei"/>
                <a:ea typeface="Microsoft YaHei"/>
              </a:rPr>
              <a:t>评测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1680" y="5815584"/>
            <a:ext cx="93113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44054"/>
                </a:solidFill>
                <a:latin typeface="Microsoft YaHei"/>
                <a:ea typeface="Microsoft YaHei"/>
              </a:rPr>
              <a:t>固定 10 个初始状态，Base / Final 逐条对齐；成功判定直接读环境原生 success 字段。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475488"/>
            <a:ext cx="104543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i="0" spc="180">
                <a:solidFill>
                  <a:srgbClr val="1D4ED8"/>
                </a:solidFill>
                <a:latin typeface="Microsoft YaHei"/>
                <a:ea typeface="Microsoft YaHei"/>
              </a:rPr>
              <a:t>04 / 数据与模型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786384"/>
            <a:ext cx="104543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1828"/>
                </a:solidFill>
                <a:latin typeface="Microsoft YaHei"/>
                <a:ea typeface="Microsoft YaHei"/>
              </a:rPr>
              <a:t>数据只保留任务相关部分，参数只更新 1.45%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481328"/>
            <a:ext cx="10454335" cy="11430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408615" y="642823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2B3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42823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8A2B3"/>
                </a:solidFill>
                <a:latin typeface="Microsoft YaHei"/>
                <a:ea typeface="Microsoft YaHei"/>
              </a:rPr>
              <a:t>机器学习课程大作业（B 类） · 期中汇报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3287268" cy="896112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3271" y="1901952"/>
            <a:ext cx="30129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1828"/>
                </a:solidFill>
                <a:latin typeface="Microsoft YaHei"/>
                <a:ea typeface="Microsoft YaHei"/>
              </a:rPr>
              <a:t>1,584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350008"/>
            <a:ext cx="30129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</a:rPr>
              <a:t>任务相关轨迹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5131" y="1783080"/>
            <a:ext cx="3287268" cy="896112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49723" y="1901952"/>
            <a:ext cx="30129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1828"/>
                </a:solidFill>
                <a:latin typeface="Microsoft YaHei"/>
                <a:ea typeface="Microsoft YaHei"/>
              </a:rPr>
              <a:t>3,168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9723" y="2350008"/>
            <a:ext cx="30129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</a:rPr>
              <a:t>原始文件（约 362 MB）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825496"/>
            <a:ext cx="3287268" cy="896112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33271" y="2944368"/>
            <a:ext cx="30129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1828"/>
                </a:solidFill>
                <a:latin typeface="Microsoft YaHei"/>
                <a:ea typeface="Microsoft YaHei"/>
              </a:rPr>
              <a:t>78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3392424"/>
            <a:ext cx="30129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</a:rPr>
              <a:t>held-out 验证轨迹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5131" y="2825496"/>
            <a:ext cx="3287268" cy="896112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49723" y="2944368"/>
            <a:ext cx="30129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1828"/>
                </a:solidFill>
                <a:latin typeface="Microsoft YaHei"/>
                <a:ea typeface="Microsoft YaHei"/>
              </a:rPr>
              <a:t>1.45%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9723" y="3392424"/>
            <a:ext cx="30129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</a:rPr>
              <a:t>可训练参数占比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1648"/>
            <a:ext cx="67208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150" b="1" i="0">
                <a:solidFill>
                  <a:srgbClr val="1D4ED8"/>
                </a:solidFill>
                <a:latin typeface="Microsoft YaHei"/>
                <a:ea typeface="Microsoft YaHei"/>
              </a:rPr>
              <a:t>•  </a:t>
            </a:r>
            <a:r>
              <a:rPr sz="1150" b="1" i="0">
                <a:solidFill>
                  <a:srgbClr val="344054"/>
                </a:solidFill>
                <a:latin typeface="Microsoft YaHei"/>
                <a:ea typeface="Microsoft YaHei"/>
              </a:rPr>
              <a:t>筛选依据</a:t>
            </a:r>
            <a:r>
              <a:rPr sz="1150" b="0" i="0">
                <a:solidFill>
                  <a:srgbClr val="344054"/>
                </a:solidFill>
                <a:latin typeface="Microsoft YaHei"/>
                <a:ea typeface="Microsoft YaHei"/>
              </a:rPr>
              <a:t>：按语言指令挑勺子 / 毛巾、茄子、胡萝卜 / 盘子、方块叠放四类，每类 ≤400 条。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 b="1" i="0">
                <a:solidFill>
                  <a:srgbClr val="1D4ED8"/>
                </a:solidFill>
                <a:latin typeface="Microsoft YaHei"/>
                <a:ea typeface="Microsoft YaHei"/>
              </a:rPr>
              <a:t>•  </a:t>
            </a:r>
            <a:r>
              <a:rPr sz="1150" b="1" i="0">
                <a:solidFill>
                  <a:srgbClr val="344054"/>
                </a:solidFill>
                <a:latin typeface="Microsoft YaHei"/>
                <a:ea typeface="Microsoft YaHei"/>
              </a:rPr>
              <a:t>输入</a:t>
            </a:r>
            <a:r>
              <a:rPr sz="1150" b="0" i="0">
                <a:solidFill>
                  <a:srgbClr val="344054"/>
                </a:solidFill>
                <a:latin typeface="Microsoft YaHei"/>
                <a:ea typeface="Microsoft YaHei"/>
              </a:rPr>
              <a:t>：主视角 image_0（256×256, 5 fps）+ 7 维动作 + 8 维状态。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 b="1" i="0">
                <a:solidFill>
                  <a:srgbClr val="1D4ED8"/>
                </a:solidFill>
                <a:latin typeface="Microsoft YaHei"/>
                <a:ea typeface="Microsoft YaHei"/>
              </a:rPr>
              <a:t>•  </a:t>
            </a:r>
            <a:r>
              <a:rPr sz="1150" b="1" i="0">
                <a:solidFill>
                  <a:srgbClr val="344054"/>
                </a:solidFill>
                <a:latin typeface="Microsoft YaHei"/>
                <a:ea typeface="Microsoft YaHei"/>
              </a:rPr>
              <a:t>防泄漏</a:t>
            </a:r>
            <a:r>
              <a:rPr sz="1150" b="0" i="0">
                <a:solidFill>
                  <a:srgbClr val="344054"/>
                </a:solidFill>
                <a:latin typeface="Microsoft YaHei"/>
                <a:ea typeface="Microsoft YaHei"/>
              </a:rPr>
              <a:t>：按完整轨迹切分 train / val，不存在相邻帧跨 split。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 b="1" i="0">
                <a:solidFill>
                  <a:srgbClr val="1D4ED8"/>
                </a:solidFill>
                <a:latin typeface="Microsoft YaHei"/>
                <a:ea typeface="Microsoft YaHei"/>
              </a:rPr>
              <a:t>•  </a:t>
            </a:r>
            <a:r>
              <a:rPr sz="1150" b="1" i="0">
                <a:solidFill>
                  <a:srgbClr val="344054"/>
                </a:solidFill>
                <a:latin typeface="Microsoft YaHei"/>
                <a:ea typeface="Microsoft YaHei"/>
              </a:rPr>
              <a:t>LoRA</a:t>
            </a:r>
            <a:r>
              <a:rPr sz="1150" b="0" i="0">
                <a:solidFill>
                  <a:srgbClr val="344054"/>
                </a:solidFill>
                <a:latin typeface="Microsoft YaHei"/>
                <a:ea typeface="Microsoft YaHei"/>
              </a:rPr>
              <a:t>：rank 32、all-linear，110.8M / 7.65B 参数。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58384"/>
            <a:ext cx="6766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8A2B3"/>
                </a:solidFill>
                <a:latin typeface="Microsoft YaHei"/>
                <a:ea typeface="Microsoft YaHei"/>
              </a:rPr>
              <a:t>数据来源：BridgeData V2（WidowX）· Hugging Face 镜像 IPEC-COMMUNITY/bridge_orig_lerobot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73567" y="1728216"/>
            <a:ext cx="3355848" cy="3355848"/>
          </a:xfrm>
          <a:prstGeom prst="roundRect">
            <a:avLst>
              <a:gd name="adj" fmla="val 3000"/>
            </a:avLst>
          </a:prstGeom>
          <a:solidFill>
            <a:srgbClr val="F5F7FB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pic>
        <p:nvPicPr>
          <p:cNvPr id="22" name="Picture 21" descr="data_s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431" y="1783080"/>
            <a:ext cx="3246120" cy="32461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028431" y="5175504"/>
            <a:ext cx="32461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60">
                <a:solidFill>
                  <a:srgbClr val="1D4ED8"/>
                </a:solidFill>
                <a:latin typeface="Microsoft YaHei"/>
                <a:ea typeface="Microsoft YaHei"/>
              </a:rPr>
              <a:t>episode 150, frame 0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Microsoft YaHei"/>
                <a:ea typeface="Microsoft YaHei"/>
              </a:rPr>
              <a:t>instruction = “put eggplant on plate”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475488"/>
            <a:ext cx="104543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i="0" spc="180">
                <a:solidFill>
                  <a:srgbClr val="1D4ED8"/>
                </a:solidFill>
                <a:latin typeface="Microsoft YaHei"/>
                <a:ea typeface="Microsoft YaHei"/>
              </a:rPr>
              <a:t>05 / 实验设置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786384"/>
            <a:ext cx="104543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1828"/>
                </a:solidFill>
                <a:latin typeface="Microsoft YaHei"/>
                <a:ea typeface="Microsoft YaHei"/>
              </a:rPr>
              <a:t>训练 48 分钟；评测协议先固定，再开跑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481328"/>
            <a:ext cx="10454335" cy="11430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408615" y="642823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2B3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42823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8A2B3"/>
                </a:solidFill>
                <a:latin typeface="Microsoft YaHei"/>
                <a:ea typeface="Microsoft YaHei"/>
              </a:rPr>
              <a:t>机器学习课程大作业（B 类） · 期中汇报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5564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20">
                <a:solidFill>
                  <a:srgbClr val="1D4ED8"/>
                </a:solidFill>
                <a:latin typeface="Microsoft YaHei"/>
                <a:ea typeface="Microsoft YaHei"/>
              </a:rPr>
              <a:t>训练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66543"/>
            <a:ext cx="50292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150" b="1" i="0">
                <a:solidFill>
                  <a:srgbClr val="1D4ED8"/>
                </a:solidFill>
                <a:latin typeface="Microsoft YaHei"/>
                <a:ea typeface="Microsoft YaHei"/>
              </a:rPr>
              <a:t>•  </a:t>
            </a:r>
            <a:r>
              <a:rPr sz="1150" b="1" i="0">
                <a:solidFill>
                  <a:srgbClr val="344054"/>
                </a:solidFill>
                <a:latin typeface="Microsoft YaHei"/>
                <a:ea typeface="Microsoft YaHei"/>
              </a:rPr>
              <a:t>3000 优化步</a:t>
            </a:r>
            <a:r>
              <a:rPr sz="1150" b="0" i="0">
                <a:solidFill>
                  <a:srgbClr val="344054"/>
                </a:solidFill>
                <a:latin typeface="Microsoft YaHei"/>
                <a:ea typeface="Microsoft YaHei"/>
              </a:rPr>
              <a:t>，等效 batch 8，学习率 5e-4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 b="1" i="0">
                <a:solidFill>
                  <a:srgbClr val="1D4ED8"/>
                </a:solidFill>
                <a:latin typeface="Microsoft YaHei"/>
                <a:ea typeface="Microsoft YaHei"/>
              </a:rPr>
              <a:t>•  </a:t>
            </a:r>
            <a:r>
              <a:rPr sz="1150" b="1" i="0">
                <a:solidFill>
                  <a:srgbClr val="344054"/>
                </a:solidFill>
                <a:latin typeface="Microsoft YaHei"/>
                <a:ea typeface="Microsoft YaHei"/>
              </a:rPr>
              <a:t>RTX 5090 单卡</a:t>
            </a:r>
            <a:r>
              <a:rPr sz="1150" b="0" i="0">
                <a:solidFill>
                  <a:srgbClr val="344054"/>
                </a:solidFill>
                <a:latin typeface="Microsoft YaHei"/>
                <a:ea typeface="Microsoft YaHei"/>
              </a:rPr>
              <a:t>，实际耗时约 48 分钟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 b="1" i="0">
                <a:solidFill>
                  <a:srgbClr val="1D4ED8"/>
                </a:solidFill>
                <a:latin typeface="Microsoft YaHei"/>
                <a:ea typeface="Microsoft YaHei"/>
              </a:rPr>
              <a:t>•  </a:t>
            </a:r>
            <a:r>
              <a:rPr sz="1150" b="1" i="0">
                <a:solidFill>
                  <a:srgbClr val="344054"/>
                </a:solidFill>
                <a:latin typeface="Microsoft YaHei"/>
                <a:ea typeface="Microsoft YaHei"/>
              </a:rPr>
              <a:t>训练 loss 13.4 → 3.0</a:t>
            </a:r>
            <a:r>
              <a:rPr sz="1150" b="0" i="0">
                <a:solidFill>
                  <a:srgbClr val="344054"/>
                </a:solidFill>
                <a:latin typeface="Microsoft YaHei"/>
                <a:ea typeface="Microsoft YaHei"/>
              </a:rPr>
              <a:t>；held-out val loss 3.17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58952" y="3456432"/>
          <a:ext cx="5074920" cy="24871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68680" y="6053328"/>
            <a:ext cx="4937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8A2B3"/>
                </a:solidFill>
                <a:latin typeface="Microsoft YaHei"/>
                <a:ea typeface="Microsoft YaHei"/>
              </a:rPr>
              <a:t>训练 loss（每 10 步记录，取该步 4 个 micro-batch 的均值）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53328" y="1755648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20">
                <a:solidFill>
                  <a:srgbClr val="1D4ED8"/>
                </a:solidFill>
                <a:latin typeface="Microsoft YaHei"/>
                <a:ea typeface="Microsoft YaHei"/>
              </a:rPr>
              <a:t>评测协议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53328" y="2066543"/>
            <a:ext cx="525780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150" b="1" i="0">
                <a:solidFill>
                  <a:srgbClr val="1D4ED8"/>
                </a:solidFill>
                <a:latin typeface="Microsoft YaHei"/>
                <a:ea typeface="Microsoft YaHei"/>
              </a:rPr>
              <a:t>•  </a:t>
            </a:r>
            <a:r>
              <a:rPr sz="1150" b="1" i="0">
                <a:solidFill>
                  <a:srgbClr val="344054"/>
                </a:solidFill>
                <a:latin typeface="Microsoft YaHei"/>
                <a:ea typeface="Microsoft YaHei"/>
              </a:rPr>
              <a:t>环境</a:t>
            </a:r>
            <a:r>
              <a:rPr sz="1150" b="0" i="0">
                <a:solidFill>
                  <a:srgbClr val="344054"/>
                </a:solidFill>
                <a:latin typeface="Microsoft YaHei"/>
                <a:ea typeface="Microsoft YaHei"/>
              </a:rPr>
              <a:t>：SimplerEnv WidowX Visual Matching，控制 5 Hz / 仿真 500 Hz。</a:t>
            </a:r>
          </a:p>
          <a:p>
            <a:pPr>
              <a:lnSpc>
                <a:spcPct val="125000"/>
              </a:lnSpc>
              <a:spcBef>
                <a:spcPts val="900"/>
              </a:spcBef>
            </a:pPr>
            <a:r>
              <a:rPr sz="1150" b="1" i="0">
                <a:solidFill>
                  <a:srgbClr val="1D4ED8"/>
                </a:solidFill>
                <a:latin typeface="Microsoft YaHei"/>
                <a:ea typeface="Microsoft YaHei"/>
              </a:rPr>
              <a:t>•  </a:t>
            </a:r>
            <a:r>
              <a:rPr sz="1150" b="1" i="0">
                <a:solidFill>
                  <a:srgbClr val="344054"/>
                </a:solidFill>
                <a:latin typeface="Microsoft YaHei"/>
                <a:ea typeface="Microsoft YaHei"/>
              </a:rPr>
              <a:t>任务</a:t>
            </a:r>
            <a:r>
              <a:rPr sz="1150" b="0" i="0">
                <a:solidFill>
                  <a:srgbClr val="344054"/>
                </a:solidFill>
                <a:latin typeface="Microsoft YaHei"/>
                <a:ea typeface="Microsoft YaHei"/>
              </a:rPr>
              <a:t>：T1 放勺子（≤60 步），T2 放茄子（≤120 步）。</a:t>
            </a:r>
          </a:p>
          <a:p>
            <a:pPr>
              <a:lnSpc>
                <a:spcPct val="125000"/>
              </a:lnSpc>
              <a:spcBef>
                <a:spcPts val="900"/>
              </a:spcBef>
            </a:pPr>
            <a:r>
              <a:rPr sz="1150" b="1" i="0">
                <a:solidFill>
                  <a:srgbClr val="1D4ED8"/>
                </a:solidFill>
                <a:latin typeface="Microsoft YaHei"/>
                <a:ea typeface="Microsoft YaHei"/>
              </a:rPr>
              <a:t>•  </a:t>
            </a:r>
            <a:r>
              <a:rPr sz="1150" b="1" i="0">
                <a:solidFill>
                  <a:srgbClr val="344054"/>
                </a:solidFill>
                <a:latin typeface="Microsoft YaHei"/>
                <a:ea typeface="Microsoft YaHei"/>
              </a:rPr>
              <a:t>初始状态</a:t>
            </a:r>
            <a:r>
              <a:rPr sz="1150" b="0" i="0">
                <a:solidFill>
                  <a:srgbClr val="344054"/>
                </a:solidFill>
                <a:latin typeface="Microsoft YaHei"/>
                <a:ea typeface="Microsoft YaHei"/>
              </a:rPr>
              <a:t>：object id 0–9 固定，Base / Final 完全一致；开发阶段用 10–23，正式评测不参与。</a:t>
            </a:r>
          </a:p>
          <a:p>
            <a:pPr>
              <a:lnSpc>
                <a:spcPct val="125000"/>
              </a:lnSpc>
              <a:spcBef>
                <a:spcPts val="900"/>
              </a:spcBef>
            </a:pPr>
            <a:r>
              <a:rPr sz="1150" b="1" i="0">
                <a:solidFill>
                  <a:srgbClr val="1D4ED8"/>
                </a:solidFill>
                <a:latin typeface="Microsoft YaHei"/>
                <a:ea typeface="Microsoft YaHei"/>
              </a:rPr>
              <a:t>•  </a:t>
            </a:r>
            <a:r>
              <a:rPr sz="1150" b="1" i="0">
                <a:solidFill>
                  <a:srgbClr val="344054"/>
                </a:solidFill>
                <a:latin typeface="Microsoft YaHei"/>
                <a:ea typeface="Microsoft YaHei"/>
              </a:rPr>
              <a:t>成功判定</a:t>
            </a:r>
            <a:r>
              <a:rPr sz="1150" b="0" i="0">
                <a:solidFill>
                  <a:srgbClr val="344054"/>
                </a:solidFill>
                <a:latin typeface="Microsoft YaHei"/>
                <a:ea typeface="Microsoft YaHei"/>
              </a:rPr>
              <a:t>：严格读取 info[“success”]，不用 done / terminated 代替。</a:t>
            </a:r>
          </a:p>
          <a:p>
            <a:pPr>
              <a:lnSpc>
                <a:spcPct val="125000"/>
              </a:lnSpc>
              <a:spcBef>
                <a:spcPts val="900"/>
              </a:spcBef>
            </a:pPr>
            <a:r>
              <a:rPr sz="1150" b="1" i="0">
                <a:solidFill>
                  <a:srgbClr val="1D4ED8"/>
                </a:solidFill>
                <a:latin typeface="Microsoft YaHei"/>
                <a:ea typeface="Microsoft YaHei"/>
              </a:rPr>
              <a:t>•  </a:t>
            </a:r>
            <a:r>
              <a:rPr sz="1150" b="1" i="0">
                <a:solidFill>
                  <a:srgbClr val="344054"/>
                </a:solidFill>
                <a:latin typeface="Microsoft YaHei"/>
                <a:ea typeface="Microsoft YaHei"/>
              </a:rPr>
              <a:t>预处理</a:t>
            </a:r>
            <a:r>
              <a:rPr sz="1150" b="0" i="0">
                <a:solidFill>
                  <a:srgbClr val="344054"/>
                </a:solidFill>
                <a:latin typeface="Microsoft YaHei"/>
                <a:ea typeface="Microsoft YaHei"/>
              </a:rPr>
              <a:t>：统一 sigma=1.5 高斯模糊，只作用于 policy 输入，环境不变。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475488"/>
            <a:ext cx="104543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i="0" spc="180">
                <a:solidFill>
                  <a:srgbClr val="1D4ED8"/>
                </a:solidFill>
                <a:latin typeface="Microsoft YaHei"/>
                <a:ea typeface="Microsoft YaHei"/>
              </a:rPr>
              <a:t>06 / 初步实验结果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786384"/>
            <a:ext cx="104543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1828"/>
                </a:solidFill>
                <a:latin typeface="Microsoft YaHei"/>
                <a:ea typeface="Microsoft YaHei"/>
              </a:rPr>
              <a:t>Final 总分 30.0：T2 提升 30 个点，T1 略降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481328"/>
            <a:ext cx="10454335" cy="11430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408615" y="642823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2B3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42823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8A2B3"/>
                </a:solidFill>
                <a:latin typeface="Microsoft YaHei"/>
                <a:ea typeface="Microsoft YaHei"/>
              </a:rPr>
              <a:t>机器学习课程大作业（B 类） · 期中汇报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8680" y="1810512"/>
          <a:ext cx="5989320" cy="1975104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i="0">
                          <a:solidFill>
                            <a:srgbClr val="667085"/>
                          </a:solidFill>
                          <a:latin typeface="Microsoft YaHei"/>
                          <a:ea typeface="Microsoft YaHei"/>
                        </a:rPr>
                        <a:t>模型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 i="0">
                          <a:solidFill>
                            <a:srgbClr val="667085"/>
                          </a:solidFill>
                          <a:latin typeface="Microsoft YaHei"/>
                          <a:ea typeface="Microsoft YaHei"/>
                        </a:rPr>
                        <a:t>T1 放勺子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 i="0">
                          <a:solidFill>
                            <a:srgbClr val="667085"/>
                          </a:solidFill>
                          <a:latin typeface="Microsoft YaHei"/>
                          <a:ea typeface="Microsoft YaHei"/>
                        </a:rPr>
                        <a:t>T2 放茄子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 i="0">
                          <a:solidFill>
                            <a:srgbClr val="667085"/>
                          </a:solidFill>
                          <a:latin typeface="Microsoft YaHei"/>
                          <a:ea typeface="Microsoft YaHei"/>
                        </a:rPr>
                        <a:t>B-SimplerScore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Base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2 / 10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2 / 10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20.0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Final（LoRA r=32）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1 / 10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5 / 10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30.0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 i="0">
                          <a:solidFill>
                            <a:srgbClr val="1D4ED8"/>
                          </a:solidFill>
                          <a:latin typeface="Microsoft YaHei"/>
                          <a:ea typeface="Microsoft YaHei"/>
                        </a:rPr>
                        <a:t>Δ（Final − Base）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 i="0">
                          <a:solidFill>
                            <a:srgbClr val="1D4ED8"/>
                          </a:solidFill>
                          <a:latin typeface="Microsoft YaHei"/>
                          <a:ea typeface="Microsoft YaHei"/>
                        </a:rPr>
                        <a:t>− 10 pp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 i="0">
                          <a:solidFill>
                            <a:srgbClr val="1D4ED8"/>
                          </a:solidFill>
                          <a:latin typeface="Microsoft YaHei"/>
                          <a:ea typeface="Microsoft YaHei"/>
                        </a:rPr>
                        <a:t>+ 30 pp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 i="0">
                          <a:solidFill>
                            <a:srgbClr val="1D4ED8"/>
                          </a:solidFill>
                          <a:latin typeface="Microsoft YaHei"/>
                          <a:ea typeface="Microsoft YaHei"/>
                        </a:rPr>
                        <a:t>+ 10.0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ED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8680" y="3822191"/>
            <a:ext cx="5943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828"/>
                </a:solidFill>
                <a:latin typeface="Microsoft YaHei"/>
                <a:ea typeface="Microsoft YaHei"/>
              </a:rPr>
              <a:t>B-SimplerScore</a:t>
            </a:r>
            <a:r>
              <a:rPr sz="1100" b="0" i="0">
                <a:solidFill>
                  <a:srgbClr val="667085"/>
                </a:solidFill>
                <a:latin typeface="Microsoft YaHei"/>
                <a:ea typeface="Microsoft YaHei"/>
              </a:rPr>
              <a:t> = 两个任务成功率的平均分。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Microsoft YaHei"/>
                <a:ea typeface="Microsoft YaHei"/>
              </a:rPr>
              <a:t>40 个正式 episode，单种子；10 次 / 任务的样本量下，差值应视为初步信号。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736592"/>
            <a:ext cx="5943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150" b="1" i="0">
                <a:solidFill>
                  <a:srgbClr val="1D4ED8"/>
                </a:solidFill>
                <a:latin typeface="Microsoft YaHei"/>
                <a:ea typeface="Microsoft YaHei"/>
              </a:rPr>
              <a:t>•  </a:t>
            </a:r>
            <a:r>
              <a:rPr sz="1150" b="1" i="0">
                <a:solidFill>
                  <a:srgbClr val="067647"/>
                </a:solidFill>
                <a:latin typeface="Microsoft YaHei"/>
                <a:ea typeface="Microsoft YaHei"/>
              </a:rPr>
              <a:t>T2 +30 pp</a:t>
            </a:r>
            <a:r>
              <a:rPr sz="1150" b="0" i="0">
                <a:solidFill>
                  <a:srgbClr val="344054"/>
                </a:solidFill>
                <a:latin typeface="Microsoft YaHei"/>
                <a:ea typeface="Microsoft YaHei"/>
              </a:rPr>
              <a:t>：Final 的 5 次成功集中在较短步数（最快 16 步）。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 b="1" i="0">
                <a:solidFill>
                  <a:srgbClr val="1D4ED8"/>
                </a:solidFill>
                <a:latin typeface="Microsoft YaHei"/>
                <a:ea typeface="Microsoft YaHei"/>
              </a:rPr>
              <a:t>•  </a:t>
            </a:r>
            <a:r>
              <a:rPr sz="1150" b="1" i="0">
                <a:solidFill>
                  <a:srgbClr val="344054"/>
                </a:solidFill>
                <a:latin typeface="Microsoft YaHei"/>
                <a:ea typeface="Microsoft YaHei"/>
              </a:rPr>
              <a:t>T1 −10 pp</a:t>
            </a:r>
            <a:r>
              <a:rPr sz="1150" b="0" i="0">
                <a:solidFill>
                  <a:srgbClr val="344054"/>
                </a:solidFill>
                <a:latin typeface="Microsoft YaHei"/>
                <a:ea typeface="Microsoft YaHei"/>
              </a:rPr>
              <a:t>：未能稳定抓住勺子，是下一阶段的重点。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967728" y="1719072"/>
          <a:ext cx="434340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086600" y="578815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8A2B3"/>
                </a:solidFill>
                <a:latin typeface="Microsoft YaHei"/>
                <a:ea typeface="Microsoft YaHei"/>
              </a:rPr>
              <a:t>成功率（%），每任务 10 个固定初始状态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475488"/>
            <a:ext cx="104543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i="0" spc="180">
                <a:solidFill>
                  <a:srgbClr val="1D4ED8"/>
                </a:solidFill>
                <a:latin typeface="Microsoft YaHei"/>
                <a:ea typeface="Microsoft YaHei"/>
              </a:rPr>
              <a:t>07 / 关键发现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786384"/>
            <a:ext cx="104543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1828"/>
                </a:solidFill>
                <a:latin typeface="Microsoft YaHei"/>
                <a:ea typeface="Microsoft YaHei"/>
              </a:rPr>
              <a:t>先排除接口问题，再谈模型能力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481328"/>
            <a:ext cx="10454335" cy="11430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408615" y="642823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2B3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42823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8A2B3"/>
                </a:solidFill>
                <a:latin typeface="Microsoft YaHei"/>
                <a:ea typeface="Microsoft YaHei"/>
              </a:rPr>
              <a:t>机器学习课程大作业（B 类） · 期中汇报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73936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00">
                <a:solidFill>
                  <a:srgbClr val="1D4ED8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5607" y="1755648"/>
            <a:ext cx="10332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01828"/>
                </a:solidFill>
                <a:latin typeface="Microsoft YaHei"/>
                <a:ea typeface="Microsoft YaHei"/>
              </a:rPr>
              <a:t>接口是对的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2093976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44054"/>
                </a:solidFill>
                <a:latin typeface="Microsoft YaHei"/>
                <a:ea typeface="Microsoft YaHei"/>
              </a:rPr>
              <a:t>用真实 BridgeData 帧做对照：frame 0 的 GT 动作 </a:t>
            </a:r>
            <a:r>
              <a:rPr sz="1050" b="0" i="0">
                <a:solidFill>
                  <a:srgbClr val="344054"/>
                </a:solidFill>
                <a:latin typeface="Consolas"/>
                <a:ea typeface="Consolas"/>
              </a:rPr>
              <a:t>[−0.0028, −0.0025, −0.0141, …]</a:t>
            </a:r>
            <a:r>
              <a:rPr sz="1150" b="0" i="0">
                <a:solidFill>
                  <a:srgbClr val="344054"/>
                </a:solidFill>
                <a:latin typeface="Microsoft YaHei"/>
                <a:ea typeface="Microsoft YaHei"/>
              </a:rPr>
              <a:t>，OpenVLA 预测 </a:t>
            </a:r>
            <a:r>
              <a:rPr sz="1050" b="0" i="0">
                <a:solidFill>
                  <a:srgbClr val="344054"/>
                </a:solidFill>
                <a:latin typeface="Consolas"/>
                <a:ea typeface="Consolas"/>
              </a:rPr>
              <a:t>[−0.0029, −0.0024, −0.0140, …]</a:t>
            </a:r>
            <a:r>
              <a:rPr sz="1150" b="0" i="0">
                <a:solidFill>
                  <a:srgbClr val="344054"/>
                </a:solidFill>
                <a:latin typeface="Microsoft YaHei"/>
                <a:ea typeface="Microsoft YaHei"/>
              </a:rPr>
              <a:t>，夹爪开 / 闭也一致。说明 prompt 模板、动作 token 解码、反归一化都正确。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35607" y="2999232"/>
            <a:ext cx="10332720" cy="9525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218688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00">
                <a:solidFill>
                  <a:srgbClr val="1D4ED8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7" y="3200400"/>
            <a:ext cx="10332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01828"/>
                </a:solidFill>
                <a:latin typeface="Microsoft YaHei"/>
                <a:ea typeface="Microsoft YaHei"/>
              </a:rPr>
              <a:t>主因是图像域差异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3538728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44054"/>
                </a:solidFill>
                <a:latin typeface="Microsoft YaHei"/>
                <a:ea typeface="Microsoft YaHei"/>
              </a:rPr>
              <a:t>不加模糊时，Base 与 Final 在正式评测中都是 </a:t>
            </a:r>
            <a:r>
              <a:rPr sz="1150" b="1" i="0">
                <a:solidFill>
                  <a:srgbClr val="344054"/>
                </a:solidFill>
                <a:latin typeface="Microsoft YaHei"/>
                <a:ea typeface="Microsoft YaHei"/>
              </a:rPr>
              <a:t>0 / 10</a:t>
            </a:r>
            <a:r>
              <a:rPr sz="1150" b="0" i="0">
                <a:solidFill>
                  <a:srgbClr val="344054"/>
                </a:solidFill>
                <a:latin typeface="Microsoft YaHei"/>
                <a:ea typeface="Microsoft YaHei"/>
              </a:rPr>
              <a:t>。加入 sigma=1.5 高斯模糊后，Base 到 20.0、Final 到 30.0；夹爪 debug 值从长期张开（约 0.9961）转为闭合。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35607" y="4443984"/>
            <a:ext cx="10332720" cy="9525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66344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00">
                <a:solidFill>
                  <a:srgbClr val="1D4ED8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5607" y="4645152"/>
            <a:ext cx="10332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01828"/>
                </a:solidFill>
                <a:latin typeface="Microsoft YaHei"/>
                <a:ea typeface="Microsoft YaHei"/>
              </a:rPr>
              <a:t>顺带修掉一个社区适配器 bug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7" y="498348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44054"/>
                </a:solidFill>
                <a:latin typeface="Microsoft YaHei"/>
                <a:ea typeface="Microsoft YaHei"/>
              </a:rPr>
              <a:t>适配器漏掉了 OpenVLA 训练时的 prompt 模板 </a:t>
            </a:r>
            <a:r>
              <a:rPr sz="1050" b="0" i="0">
                <a:solidFill>
                  <a:srgbClr val="344054"/>
                </a:solidFill>
                <a:latin typeface="Consolas"/>
                <a:ea typeface="Consolas"/>
              </a:rPr>
              <a:t>“In: What action should the robot take to {instruction}? Out:”</a:t>
            </a:r>
            <a:r>
              <a:rPr sz="1150" b="0" i="0">
                <a:solidFill>
                  <a:srgbClr val="344054"/>
                </a:solidFill>
                <a:latin typeface="Microsoft YaHei"/>
                <a:ea typeface="Microsoft YaHei"/>
              </a:rPr>
              <a:t>；补上后重跑全部 40 个 episode，裸 prompt 的旧结果归档、不用于结论。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475488"/>
            <a:ext cx="104543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i="0" spc="180">
                <a:solidFill>
                  <a:srgbClr val="1D4ED8"/>
                </a:solidFill>
                <a:latin typeface="Microsoft YaHei"/>
                <a:ea typeface="Microsoft YaHei"/>
              </a:rPr>
              <a:t>08 / 工程落地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786384"/>
            <a:ext cx="104543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1828"/>
                </a:solidFill>
                <a:latin typeface="Microsoft YaHei"/>
                <a:ea typeface="Microsoft YaHei"/>
              </a:rPr>
              <a:t>真正花时间的，是这些兼容性问题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481328"/>
            <a:ext cx="10454335" cy="11430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408615" y="642823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2B3"/>
                </a:solidFill>
                <a:latin typeface="Microsoft YaHei"/>
                <a:ea typeface="Microsoft YaHe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42823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8A2B3"/>
                </a:solidFill>
                <a:latin typeface="Microsoft YaHei"/>
                <a:ea typeface="Microsoft YaHei"/>
              </a:rPr>
              <a:t>机器学习课程大作业（B 类） · 期中汇报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8680" y="1810512"/>
          <a:ext cx="10451592" cy="338328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9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667085"/>
                          </a:solidFill>
                          <a:latin typeface="Microsoft YaHei"/>
                          <a:ea typeface="Microsoft YaHei"/>
                        </a:rPr>
                        <a:t>现象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667085"/>
                          </a:solidFill>
                          <a:latin typeface="Microsoft YaHei"/>
                          <a:ea typeface="Microsoft YaHei"/>
                        </a:rPr>
                        <a:t>原因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667085"/>
                          </a:solidFill>
                          <a:latin typeface="Microsoft YaHei"/>
                          <a:ea typeface="Microsoft YaHei"/>
                        </a:rPr>
                        <a:t>处理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5090 上无法训练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sm_120 不被 torch 2.3.1 支持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改用 torch 2.7.1 + cu128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加载模型即报错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OpenVLA 强制 flash_attention_2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适配器改用 sdpa；单卡 FSDP 置 fsdp_size=-1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仿真渲染黑屏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SAPIEN 找不到 Vulkan ICD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显式指定 NVIDIA ICD 路径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动作与首帧错位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官方 bridge_orig transform 会删首帧，LeRobot 数据无该帧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注册 bridge_subset transform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多卡 CUDA 状态冲突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共享 GPU 上的进程互相影响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固定 GPU 0，评测串行执行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8680" y="5349240"/>
            <a:ext cx="1045433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085"/>
                </a:solidFill>
                <a:latin typeface="Microsoft YaHei"/>
                <a:ea typeface="Microsoft YaHei"/>
              </a:rPr>
              <a:t>这些坑都写进了 README 的环境与复现章节——换一台机器照着重装，能复现同一套结果。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475488"/>
            <a:ext cx="104543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i="0" spc="180">
                <a:solidFill>
                  <a:srgbClr val="1D4ED8"/>
                </a:solidFill>
                <a:latin typeface="Microsoft YaHei"/>
                <a:ea typeface="Microsoft YaHei"/>
              </a:rPr>
              <a:t>09 / 进度与计划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786384"/>
            <a:ext cx="104543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1828"/>
                </a:solidFill>
                <a:latin typeface="Microsoft YaHei"/>
                <a:ea typeface="Microsoft YaHei"/>
              </a:rPr>
              <a:t>主线已打通，接下来补统计与解释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481328"/>
            <a:ext cx="10454335" cy="11430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408615" y="642823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2B3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42823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8A2B3"/>
                </a:solidFill>
                <a:latin typeface="Microsoft YaHei"/>
                <a:ea typeface="Microsoft YaHei"/>
              </a:rPr>
              <a:t>机器学习课程大作业（B 类） · 期中汇报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55648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20">
                <a:solidFill>
                  <a:srgbClr val="067647"/>
                </a:solidFill>
                <a:latin typeface="Microsoft YaHei"/>
                <a:ea typeface="Microsoft YaHei"/>
              </a:rPr>
              <a:t>已完成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048256"/>
            <a:ext cx="457200" cy="20320"/>
          </a:xfrm>
          <a:prstGeom prst="rect">
            <a:avLst/>
          </a:prstGeom>
          <a:solidFill>
            <a:srgbClr val="0676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231136"/>
            <a:ext cx="507492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200" b="1" i="0">
                <a:solidFill>
                  <a:srgbClr val="067647"/>
                </a:solidFill>
                <a:latin typeface="Microsoft YaHei"/>
                <a:ea typeface="Microsoft YaHei"/>
              </a:rPr>
              <a:t>•  </a:t>
            </a:r>
            <a:r>
              <a:rPr sz="1200" b="0" i="0">
                <a:solidFill>
                  <a:srgbClr val="344054"/>
                </a:solidFill>
                <a:latin typeface="Microsoft YaHei"/>
                <a:ea typeface="Microsoft YaHei"/>
              </a:rPr>
              <a:t>数据筛选 → RLDS → LoRA 训练 → 闭环评测，全链路脚本化</a:t>
            </a:r>
          </a:p>
          <a:p>
            <a:pPr>
              <a:lnSpc>
                <a:spcPct val="125000"/>
              </a:lnSpc>
              <a:spcBef>
                <a:spcPts val="1100"/>
              </a:spcBef>
            </a:pPr>
            <a:r>
              <a:rPr sz="1200" b="1" i="0">
                <a:solidFill>
                  <a:srgbClr val="067647"/>
                </a:solidFill>
                <a:latin typeface="Microsoft YaHei"/>
                <a:ea typeface="Microsoft YaHei"/>
              </a:rPr>
              <a:t>•  </a:t>
            </a:r>
            <a:r>
              <a:rPr sz="1200" b="0" i="0">
                <a:solidFill>
                  <a:srgbClr val="344054"/>
                </a:solidFill>
                <a:latin typeface="Microsoft YaHei"/>
                <a:ea typeface="Microsoft YaHei"/>
              </a:rPr>
              <a:t>40 个正式 episode + 逐帧视频 + 逐 episode CSV</a:t>
            </a:r>
          </a:p>
          <a:p>
            <a:pPr>
              <a:lnSpc>
                <a:spcPct val="125000"/>
              </a:lnSpc>
              <a:spcBef>
                <a:spcPts val="1100"/>
              </a:spcBef>
            </a:pPr>
            <a:r>
              <a:rPr sz="1200" b="1" i="0">
                <a:solidFill>
                  <a:srgbClr val="067647"/>
                </a:solidFill>
                <a:latin typeface="Microsoft YaHei"/>
                <a:ea typeface="Microsoft YaHei"/>
              </a:rPr>
              <a:t>•  </a:t>
            </a:r>
            <a:r>
              <a:rPr sz="1200" b="0" i="0">
                <a:solidFill>
                  <a:srgbClr val="344054"/>
                </a:solidFill>
                <a:latin typeface="Microsoft YaHei"/>
                <a:ea typeface="Microsoft YaHei"/>
              </a:rPr>
              <a:t>prompt 模板问题定位、修正并整体重跑</a:t>
            </a:r>
          </a:p>
          <a:p>
            <a:pPr>
              <a:lnSpc>
                <a:spcPct val="125000"/>
              </a:lnSpc>
              <a:spcBef>
                <a:spcPts val="1100"/>
              </a:spcBef>
            </a:pPr>
            <a:r>
              <a:rPr sz="1200" b="1" i="0">
                <a:solidFill>
                  <a:srgbClr val="067647"/>
                </a:solidFill>
                <a:latin typeface="Microsoft YaHei"/>
                <a:ea typeface="Microsoft YaHei"/>
              </a:rPr>
              <a:t>•  </a:t>
            </a:r>
            <a:r>
              <a:rPr sz="1200" b="0" i="0">
                <a:solidFill>
                  <a:srgbClr val="344054"/>
                </a:solidFill>
                <a:latin typeface="Microsoft YaHei"/>
                <a:ea typeface="Microsoft YaHei"/>
              </a:rPr>
              <a:t>三组补充消融：8000 步、严格 T1 数据、image_aug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75564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20">
                <a:solidFill>
                  <a:srgbClr val="1D4ED8"/>
                </a:solidFill>
                <a:latin typeface="Microsoft YaHei"/>
                <a:ea typeface="Microsoft YaHei"/>
              </a:rPr>
              <a:t>下一步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2048256"/>
            <a:ext cx="457200" cy="203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2231136"/>
            <a:ext cx="502920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200" b="1" i="0">
                <a:solidFill>
                  <a:srgbClr val="1D4ED8"/>
                </a:solidFill>
                <a:latin typeface="Microsoft YaHei"/>
                <a:ea typeface="Microsoft YaHei"/>
              </a:rPr>
              <a:t>•  </a:t>
            </a:r>
            <a:r>
              <a:rPr sz="1200" b="0" i="0">
                <a:solidFill>
                  <a:srgbClr val="344054"/>
                </a:solidFill>
                <a:latin typeface="Microsoft YaHei"/>
                <a:ea typeface="Microsoft YaHei"/>
              </a:rPr>
              <a:t>扩大初始状态数量与随机种子，给出置信区间</a:t>
            </a:r>
          </a:p>
          <a:p>
            <a:pPr>
              <a:lnSpc>
                <a:spcPct val="125000"/>
              </a:lnSpc>
              <a:spcBef>
                <a:spcPts val="1100"/>
              </a:spcBef>
            </a:pPr>
            <a:r>
              <a:rPr sz="1200" b="1" i="0">
                <a:solidFill>
                  <a:srgbClr val="1D4ED8"/>
                </a:solidFill>
                <a:latin typeface="Microsoft YaHei"/>
                <a:ea typeface="Microsoft YaHei"/>
              </a:rPr>
              <a:t>•  </a:t>
            </a:r>
            <a:r>
              <a:rPr sz="1200" b="0" i="0">
                <a:solidFill>
                  <a:srgbClr val="344054"/>
                </a:solidFill>
                <a:latin typeface="Microsoft YaHei"/>
                <a:ea typeface="Microsoft YaHei"/>
              </a:rPr>
              <a:t>把失败 episode 系统分类：接近 / 抓取 / 放置 / 指令遵循</a:t>
            </a:r>
          </a:p>
          <a:p>
            <a:pPr>
              <a:lnSpc>
                <a:spcPct val="125000"/>
              </a:lnSpc>
              <a:spcBef>
                <a:spcPts val="1100"/>
              </a:spcBef>
            </a:pPr>
            <a:r>
              <a:rPr sz="1200" b="1" i="0">
                <a:solidFill>
                  <a:srgbClr val="1D4ED8"/>
                </a:solidFill>
                <a:latin typeface="Microsoft YaHei"/>
                <a:ea typeface="Microsoft YaHei"/>
              </a:rPr>
              <a:t>•  </a:t>
            </a:r>
            <a:r>
              <a:rPr sz="1200" b="0" i="0">
                <a:solidFill>
                  <a:srgbClr val="344054"/>
                </a:solidFill>
                <a:latin typeface="Microsoft YaHei"/>
                <a:ea typeface="Microsoft YaHei"/>
              </a:rPr>
              <a:t>尝试渲染域随机化，进一步验证“域差异”假设</a:t>
            </a:r>
          </a:p>
          <a:p>
            <a:pPr>
              <a:lnSpc>
                <a:spcPct val="125000"/>
              </a:lnSpc>
              <a:spcBef>
                <a:spcPts val="1100"/>
              </a:spcBef>
            </a:pPr>
            <a:r>
              <a:rPr sz="1200" b="1" i="0">
                <a:solidFill>
                  <a:srgbClr val="1D4ED8"/>
                </a:solidFill>
                <a:latin typeface="Microsoft YaHei"/>
                <a:ea typeface="Microsoft YaHei"/>
              </a:rPr>
              <a:t>•  </a:t>
            </a:r>
            <a:r>
              <a:rPr sz="1200" b="0" i="0">
                <a:solidFill>
                  <a:srgbClr val="344054"/>
                </a:solidFill>
                <a:latin typeface="Microsoft YaHei"/>
                <a:ea typeface="Microsoft YaHei"/>
              </a:rPr>
              <a:t>完成最终报告与一键复现文档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913632"/>
            <a:ext cx="104543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spc="100">
                <a:solidFill>
                  <a:srgbClr val="667085"/>
                </a:solidFill>
                <a:latin typeface="Microsoft YaHei"/>
                <a:ea typeface="Microsoft YaHei"/>
              </a:rPr>
              <a:t>阶段状态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224528"/>
            <a:ext cx="2487168" cy="548640"/>
          </a:xfrm>
          <a:prstGeom prst="roundRect">
            <a:avLst>
              <a:gd name="adj" fmla="val 16000"/>
            </a:avLst>
          </a:prstGeom>
          <a:solidFill>
            <a:srgbClr val="F5F7FB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51560" y="4457700"/>
            <a:ext cx="82296" cy="82296"/>
          </a:xfrm>
          <a:prstGeom prst="ellipse">
            <a:avLst/>
          </a:prstGeom>
          <a:solidFill>
            <a:srgbClr val="067647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34440" y="4361688"/>
            <a:ext cx="20299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1828"/>
                </a:solidFill>
                <a:latin typeface="Microsoft YaHei"/>
                <a:ea typeface="Microsoft YaHei"/>
              </a:rPr>
              <a:t>数据管线</a:t>
            </a:r>
            <a:r>
              <a:rPr sz="950" b="0" i="0">
                <a:solidFill>
                  <a:srgbClr val="067647"/>
                </a:solidFill>
                <a:latin typeface="Microsoft YaHei"/>
                <a:ea typeface="Microsoft YaHei"/>
              </a:rPr>
              <a:t>　已完成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5012" y="4224528"/>
            <a:ext cx="2487168" cy="548640"/>
          </a:xfrm>
          <a:prstGeom prst="roundRect">
            <a:avLst>
              <a:gd name="adj" fmla="val 16000"/>
            </a:avLst>
          </a:prstGeom>
          <a:solidFill>
            <a:srgbClr val="F5F7FB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707892" y="4457700"/>
            <a:ext cx="82296" cy="82296"/>
          </a:xfrm>
          <a:prstGeom prst="ellipse">
            <a:avLst/>
          </a:prstGeom>
          <a:solidFill>
            <a:srgbClr val="067647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90772" y="4361688"/>
            <a:ext cx="20299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1828"/>
                </a:solidFill>
                <a:latin typeface="Microsoft YaHei"/>
                <a:ea typeface="Microsoft YaHei"/>
              </a:rPr>
              <a:t>LoRA 训练</a:t>
            </a:r>
            <a:r>
              <a:rPr sz="950" b="0" i="0">
                <a:solidFill>
                  <a:srgbClr val="067647"/>
                </a:solidFill>
                <a:latin typeface="Microsoft YaHei"/>
                <a:ea typeface="Microsoft YaHei"/>
              </a:rPr>
              <a:t>　已完成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4224528"/>
            <a:ext cx="2487168" cy="548640"/>
          </a:xfrm>
          <a:prstGeom prst="roundRect">
            <a:avLst>
              <a:gd name="adj" fmla="val 16000"/>
            </a:avLst>
          </a:prstGeom>
          <a:solidFill>
            <a:srgbClr val="F5F7FB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64224" y="4457700"/>
            <a:ext cx="82296" cy="82296"/>
          </a:xfrm>
          <a:prstGeom prst="ellipse">
            <a:avLst/>
          </a:prstGeom>
          <a:solidFill>
            <a:srgbClr val="067647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47104" y="4361688"/>
            <a:ext cx="20299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1828"/>
                </a:solidFill>
                <a:latin typeface="Microsoft YaHei"/>
                <a:ea typeface="Microsoft YaHei"/>
              </a:rPr>
              <a:t>闭环评测</a:t>
            </a:r>
            <a:r>
              <a:rPr sz="950" b="0" i="0">
                <a:solidFill>
                  <a:srgbClr val="067647"/>
                </a:solidFill>
                <a:latin typeface="Microsoft YaHei"/>
                <a:ea typeface="Microsoft YaHei"/>
              </a:rPr>
              <a:t>　已完成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37676" y="4224528"/>
            <a:ext cx="2487168" cy="548640"/>
          </a:xfrm>
          <a:prstGeom prst="roundRect">
            <a:avLst>
              <a:gd name="adj" fmla="val 16000"/>
            </a:avLst>
          </a:prstGeom>
          <a:solidFill>
            <a:srgbClr val="F5F7FB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020555" y="4457700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03436" y="4361688"/>
            <a:ext cx="20299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1828"/>
                </a:solidFill>
                <a:latin typeface="Microsoft YaHei"/>
                <a:ea typeface="Microsoft YaHei"/>
              </a:rPr>
              <a:t>失败分析</a:t>
            </a:r>
            <a:r>
              <a:rPr sz="950" b="0" i="0">
                <a:solidFill>
                  <a:srgbClr val="1D4ED8"/>
                </a:solidFill>
                <a:latin typeface="Microsoft YaHei"/>
                <a:ea typeface="Microsoft YaHei"/>
              </a:rPr>
              <a:t>　进行中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5468112"/>
            <a:ext cx="10454335" cy="12700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27531" y="5426964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5614416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D8"/>
                </a:solidFill>
                <a:latin typeface="Microsoft YaHei"/>
                <a:ea typeface="Microsoft YaHei"/>
              </a:rPr>
              <a:t>10.20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Microsoft YaHei"/>
                <a:ea typeface="Microsoft YaHei"/>
              </a:rPr>
              <a:t>当前</a:t>
            </a:r>
          </a:p>
        </p:txBody>
      </p:sp>
      <p:sp>
        <p:nvSpPr>
          <p:cNvPr id="29" name="Oval 28"/>
          <p:cNvSpPr/>
          <p:nvPr/>
        </p:nvSpPr>
        <p:spPr>
          <a:xfrm>
            <a:off x="3936491" y="5426964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977639" y="5614416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D4ED8"/>
                </a:solidFill>
                <a:latin typeface="Microsoft YaHei"/>
                <a:ea typeface="Microsoft YaHei"/>
              </a:rPr>
              <a:t>10.26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Microsoft YaHei"/>
                <a:ea typeface="Microsoft YaHei"/>
              </a:rPr>
              <a:t>期中汇报</a:t>
            </a:r>
          </a:p>
        </p:txBody>
      </p:sp>
      <p:sp>
        <p:nvSpPr>
          <p:cNvPr id="31" name="Oval 30"/>
          <p:cNvSpPr/>
          <p:nvPr/>
        </p:nvSpPr>
        <p:spPr>
          <a:xfrm>
            <a:off x="7228332" y="5426964"/>
            <a:ext cx="82296" cy="82296"/>
          </a:xfrm>
          <a:prstGeom prst="ellipse">
            <a:avLst/>
          </a:prstGeom>
          <a:solidFill>
            <a:srgbClr val="98A2B3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69480" y="5614416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8A2B3"/>
                </a:solidFill>
                <a:latin typeface="Microsoft YaHei"/>
                <a:ea typeface="Microsoft YaHei"/>
              </a:rPr>
              <a:t>11 月中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Microsoft YaHei"/>
                <a:ea typeface="Microsoft YaHei"/>
              </a:rPr>
              <a:t>补充实验</a:t>
            </a:r>
          </a:p>
        </p:txBody>
      </p:sp>
      <p:sp>
        <p:nvSpPr>
          <p:cNvPr id="33" name="Oval 32"/>
          <p:cNvSpPr/>
          <p:nvPr/>
        </p:nvSpPr>
        <p:spPr>
          <a:xfrm>
            <a:off x="10337292" y="5426964"/>
            <a:ext cx="82296" cy="82296"/>
          </a:xfrm>
          <a:prstGeom prst="ellipse">
            <a:avLst/>
          </a:prstGeom>
          <a:solidFill>
            <a:srgbClr val="98A2B3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378440" y="5614416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8A2B3"/>
                </a:solidFill>
                <a:latin typeface="Microsoft YaHei"/>
                <a:ea typeface="Microsoft YaHei"/>
              </a:rPr>
              <a:t>期末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Microsoft YaHei"/>
                <a:ea typeface="Microsoft YaHei"/>
              </a:rPr>
              <a:t>最终提交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475488"/>
            <a:ext cx="104543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i="0" spc="180">
                <a:solidFill>
                  <a:srgbClr val="1D4ED8"/>
                </a:solidFill>
                <a:latin typeface="Microsoft YaHei"/>
                <a:ea typeface="Microsoft YaHei"/>
              </a:rPr>
              <a:t>10 /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786384"/>
            <a:ext cx="104543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1828"/>
                </a:solidFill>
                <a:latin typeface="Microsoft YaHei"/>
                <a:ea typeface="Microsoft YaHei"/>
              </a:rPr>
              <a:t>三句话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481328"/>
            <a:ext cx="10454335" cy="11430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408615" y="642823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2B3"/>
                </a:solidFill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42823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8A2B3"/>
                </a:solidFill>
                <a:latin typeface="Microsoft YaHei"/>
                <a:ea typeface="Microsoft YaHei"/>
              </a:rPr>
              <a:t>机器学习课程大作业（B 类） · 期中汇报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00">
                <a:solidFill>
                  <a:srgbClr val="1D4ED8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746504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01828"/>
                </a:solidFill>
                <a:latin typeface="Microsoft YaHei"/>
                <a:ea typeface="Microsoft YaHei"/>
              </a:rPr>
              <a:t>链路通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764792"/>
            <a:ext cx="67665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44054"/>
                </a:solidFill>
                <a:latin typeface="Microsoft YaHei"/>
                <a:ea typeface="Microsoft YaHei"/>
              </a:rPr>
              <a:t>数据、训练、评测全部脚本化；配置、日志、视频与结果同仓，任何一个数字都能回到原始记录。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83080" y="2651760"/>
            <a:ext cx="9418320" cy="9525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017520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00">
                <a:solidFill>
                  <a:srgbClr val="1D4ED8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980944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01828"/>
                </a:solidFill>
                <a:latin typeface="Microsoft YaHei"/>
                <a:ea typeface="Microsoft YaHei"/>
              </a:rPr>
              <a:t>有证据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999232"/>
            <a:ext cx="67665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44054"/>
                </a:solidFill>
                <a:latin typeface="Microsoft YaHei"/>
                <a:ea typeface="Microsoft YaHei"/>
              </a:rPr>
              <a:t>先验证接口，再归因模型：域差异是目前最直接、可复现的瓶颈证据。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83080" y="3886200"/>
            <a:ext cx="9418320" cy="9525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251960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00">
                <a:solidFill>
                  <a:srgbClr val="1D4ED8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215384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01828"/>
                </a:solidFill>
                <a:latin typeface="Microsoft YaHei"/>
                <a:ea typeface="Microsoft YaHei"/>
              </a:rPr>
              <a:t>待补强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4233672"/>
            <a:ext cx="67665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44054"/>
                </a:solidFill>
                <a:latin typeface="Microsoft YaHei"/>
                <a:ea typeface="Microsoft YaHei"/>
              </a:rPr>
              <a:t>样本小、单种子；Final 只在 T2 上有可观察提升，结论保持谨慎。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04688"/>
            <a:ext cx="104543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1828"/>
                </a:solidFill>
                <a:latin typeface="Microsoft YaHei"/>
                <a:ea typeface="Microsoft YaHei"/>
              </a:rPr>
              <a:t>谢谢，请老师和同学提问。</a:t>
            </a:r>
          </a:p>
          <a:p>
            <a:pPr>
              <a:lnSpc>
                <a:spcPct val="122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98A2B3"/>
                </a:solidFill>
                <a:latin typeface="Microsoft YaHei"/>
                <a:ea typeface="Microsoft YaHei"/>
              </a:rPr>
              <a:t>代码：github.com/xht03/2026ML　｜　adapter：Release v1.0-lora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3000" y="23774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00">
                <a:solidFill>
                  <a:srgbClr val="1D4ED8"/>
                </a:solidFill>
                <a:latin typeface="Microsoft YaHei"/>
                <a:ea typeface="Microsoft YaHei"/>
              </a:rPr>
              <a:t>附录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74320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01828"/>
                </a:solidFill>
                <a:latin typeface="Microsoft YaHei"/>
                <a:ea typeface="Microsoft YaHei"/>
              </a:rPr>
              <a:t>备用页：完整结果、消融与复现信息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6576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67085"/>
                </a:solidFill>
                <a:latin typeface="Microsoft YaHei"/>
                <a:ea typeface="Microsoft YaHei"/>
              </a:rPr>
              <a:t>回答提问时使用，不占用主线时间。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475488"/>
            <a:ext cx="104543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i="0" spc="180">
                <a:solidFill>
                  <a:srgbClr val="1D4ED8"/>
                </a:solidFill>
                <a:latin typeface="Microsoft YaHei"/>
                <a:ea typeface="Microsoft YaHei"/>
              </a:rPr>
              <a:t>附录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786384"/>
            <a:ext cx="104543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1828"/>
                </a:solidFill>
                <a:latin typeface="Microsoft YaHei"/>
                <a:ea typeface="Microsoft YaHei"/>
              </a:rPr>
              <a:t>完整结果矩阵：sharp / blur × dev / formal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481328"/>
            <a:ext cx="10454335" cy="11430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408615" y="642823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2B3"/>
                </a:solidFill>
                <a:latin typeface="Microsoft YaHei"/>
                <a:ea typeface="Microsoft YaHe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42823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8A2B3"/>
                </a:solidFill>
                <a:latin typeface="Microsoft YaHei"/>
                <a:ea typeface="Microsoft YaHei"/>
              </a:rPr>
              <a:t>机器学习课程大作业（B 类） · 期中汇报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8680" y="1783080"/>
          <a:ext cx="10451592" cy="3127248"/>
        </p:xfrm>
        <a:graphic>
          <a:graphicData uri="http://schemas.openxmlformats.org/drawingml/2006/table">
            <a:tbl>
              <a:tblPr/>
              <a:tblGrid>
                <a:gridCol w="2999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84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667085"/>
                          </a:solidFill>
                          <a:latin typeface="Microsoft YaHei"/>
                          <a:ea typeface="Microsoft YaHei"/>
                        </a:rPr>
                        <a:t>输入预处理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667085"/>
                          </a:solidFill>
                          <a:latin typeface="Microsoft YaHei"/>
                          <a:ea typeface="Microsoft YaHei"/>
                        </a:rPr>
                        <a:t>模型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667085"/>
                          </a:solidFill>
                          <a:latin typeface="Microsoft YaHei"/>
                          <a:ea typeface="Microsoft YaHei"/>
                        </a:rPr>
                        <a:t>split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667085"/>
                          </a:solidFill>
                          <a:latin typeface="Microsoft YaHei"/>
                          <a:ea typeface="Microsoft YaHei"/>
                        </a:rPr>
                        <a:t>T1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667085"/>
                          </a:solidFill>
                          <a:latin typeface="Microsoft YaHei"/>
                          <a:ea typeface="Microsoft YaHei"/>
                        </a:rPr>
                        <a:t>T2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sharp（不加模糊）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Base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formal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0 / 10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0 / 10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sharp（不加模糊）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Final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formal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0 / 10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0 / 10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blur σ=1.5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Base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formal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2 / 10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2 / 10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blur σ=1.5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Final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formal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1 / 10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5 / 10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blur σ=1.5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Base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dev（10–12）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1 / 3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1 / 3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blur σ=1.5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Final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dev（10–12）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1 / 3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0 / 3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8680" y="4956048"/>
            <a:ext cx="1045433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150" b="1" i="0">
                <a:solidFill>
                  <a:srgbClr val="1D4ED8"/>
                </a:solidFill>
                <a:latin typeface="Microsoft YaHei"/>
                <a:ea typeface="Microsoft YaHei"/>
              </a:rPr>
              <a:t>•  </a:t>
            </a:r>
            <a:r>
              <a:rPr sz="1150" b="0" i="0">
                <a:solidFill>
                  <a:srgbClr val="344054"/>
                </a:solidFill>
                <a:latin typeface="Microsoft YaHei"/>
                <a:ea typeface="Microsoft YaHei"/>
              </a:rPr>
              <a:t>sigma 只在开发状态 10–12 上选择，正式状态 0–9 从未参与调参。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 b="1" i="0">
                <a:solidFill>
                  <a:srgbClr val="1D4ED8"/>
                </a:solidFill>
                <a:latin typeface="Microsoft YaHei"/>
                <a:ea typeface="Microsoft YaHei"/>
              </a:rPr>
              <a:t>•  </a:t>
            </a:r>
            <a:r>
              <a:rPr sz="1150" b="0" i="0">
                <a:solidFill>
                  <a:srgbClr val="344054"/>
                </a:solidFill>
                <a:latin typeface="Microsoft YaHei"/>
                <a:ea typeface="Microsoft YaHei"/>
              </a:rPr>
              <a:t>sharp 组为 40 个正式 episode 的归档结果；blur 组为最终结论所用结果。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475488"/>
            <a:ext cx="104543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i="0" spc="180">
                <a:solidFill>
                  <a:srgbClr val="1D4ED8"/>
                </a:solidFill>
                <a:latin typeface="Microsoft YaHei"/>
                <a:ea typeface="Microsoft YaHei"/>
              </a:rPr>
              <a:t>附录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786384"/>
            <a:ext cx="104543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1828"/>
                </a:solidFill>
                <a:latin typeface="Microsoft YaHei"/>
                <a:ea typeface="Microsoft YaHei"/>
              </a:rPr>
              <a:t>三组消融：都没能把 T1 拉起来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481328"/>
            <a:ext cx="10454335" cy="11430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408615" y="642823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2B3"/>
                </a:solidFill>
                <a:latin typeface="Microsoft YaHei"/>
                <a:ea typeface="Microsoft YaHe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42823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8A2B3"/>
                </a:solidFill>
                <a:latin typeface="Microsoft YaHei"/>
                <a:ea typeface="Microsoft YaHei"/>
              </a:rPr>
              <a:t>机器学习课程大作业（B 类） · 期中汇报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8680" y="1783080"/>
          <a:ext cx="10451592" cy="2359152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6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667085"/>
                          </a:solidFill>
                          <a:latin typeface="Microsoft YaHei"/>
                          <a:ea typeface="Microsoft YaHei"/>
                        </a:rPr>
                        <a:t>实验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667085"/>
                          </a:solidFill>
                          <a:latin typeface="Microsoft YaHei"/>
                          <a:ea typeface="Microsoft YaHei"/>
                        </a:rPr>
                        <a:t>设置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667085"/>
                          </a:solidFill>
                          <a:latin typeface="Microsoft YaHei"/>
                          <a:ea typeface="Microsoft YaHei"/>
                        </a:rPr>
                        <a:t>结果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667085"/>
                          </a:solidFill>
                          <a:latin typeface="Microsoft YaHei"/>
                          <a:ea typeface="Microsoft YaHei"/>
                        </a:rPr>
                        <a:t>结论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训练步数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3000 → 8000 步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val loss 3.17 → 3.67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训练更低、验证更高 → 过拟合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T1 数据清洗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400 条 → 188 条严格“勺子→毛巾”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正式 T1 0/10（原 1/10）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dev 成功未复现，小样本波动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图像增强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image_aug=True 再训一次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dev 1/6，与原 Final 持平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 i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</a:rPr>
                        <a:t>无增益，仅作负向消融</a:t>
                      </a:r>
                    </a:p>
                  </a:txBody>
                  <a:tcPr marL="109728" marR="10972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2F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8680" y="4617720"/>
            <a:ext cx="1045433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1828"/>
                </a:solidFill>
                <a:latin typeface="Microsoft YaHei"/>
                <a:ea typeface="Microsoft YaHei"/>
              </a:rPr>
              <a:t>判断：</a:t>
            </a:r>
            <a:r>
              <a:rPr sz="1200" b="0" i="0">
                <a:solidFill>
                  <a:srgbClr val="344054"/>
                </a:solidFill>
                <a:latin typeface="Microsoft YaHei"/>
                <a:ea typeface="Microsoft YaHei"/>
              </a:rPr>
              <a:t>T1 的瓶颈不是“训练不够”或“数据太脏”，继续加步数、清洗数据、加增强都不是直接解法；更可能还是真实图像与仿真渲染之间的域差异，以及任务本身的操作精度要求。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475488"/>
            <a:ext cx="1045433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i="0" spc="180">
                <a:solidFill>
                  <a:srgbClr val="1D4ED8"/>
                </a:solidFill>
                <a:latin typeface="Microsoft YaHei"/>
                <a:ea typeface="Microsoft YaHei"/>
              </a:rPr>
              <a:t>附录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786384"/>
            <a:ext cx="104543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1828"/>
                </a:solidFill>
                <a:latin typeface="Microsoft YaHei"/>
                <a:ea typeface="Microsoft YaHei"/>
              </a:rPr>
              <a:t>复现信息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481328"/>
            <a:ext cx="10454335" cy="11430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408615" y="642823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2B3"/>
                </a:solidFill>
                <a:latin typeface="Microsoft YaHei"/>
                <a:ea typeface="Microsoft YaHe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42823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8A2B3"/>
                </a:solidFill>
                <a:latin typeface="Microsoft YaHei"/>
                <a:ea typeface="Microsoft YaHei"/>
              </a:rPr>
              <a:t>机器学习课程大作业（B 类） · 期中汇报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Microsoft YaHei"/>
                <a:ea typeface="Microsoft YaHei"/>
              </a:rPr>
              <a:t>代码仓库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1828800"/>
            <a:ext cx="816833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01828"/>
                </a:solidFill>
                <a:latin typeface="Microsoft YaHei"/>
                <a:ea typeface="Microsoft YaHei"/>
              </a:rPr>
              <a:t>github.com/xht03/2026ML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286000"/>
            <a:ext cx="10454335" cy="7620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487168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Microsoft YaHei"/>
                <a:ea typeface="Microsoft YaHei"/>
              </a:rPr>
              <a:t>Final adapter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487168"/>
            <a:ext cx="816833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01828"/>
                </a:solidFill>
                <a:latin typeface="Microsoft YaHei"/>
                <a:ea typeface="Microsoft YaHei"/>
              </a:rPr>
              <a:t>Release v1.0-lora（约 484 MB）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944368"/>
            <a:ext cx="10454335" cy="7620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145535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Microsoft YaHei"/>
                <a:ea typeface="Microsoft YaHei"/>
              </a:rPr>
              <a:t>基础模型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3145535"/>
            <a:ext cx="816833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01828"/>
                </a:solidFill>
                <a:latin typeface="Microsoft YaHei"/>
                <a:ea typeface="Microsoft YaHei"/>
              </a:rPr>
              <a:t>openvla/openvla-7b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3602735"/>
            <a:ext cx="10454335" cy="7620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803903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Microsoft YaHei"/>
                <a:ea typeface="Microsoft YaHei"/>
              </a:rPr>
              <a:t>关键版本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3803903"/>
            <a:ext cx="816833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01828"/>
                </a:solidFill>
                <a:latin typeface="Microsoft YaHei"/>
                <a:ea typeface="Microsoft YaHei"/>
              </a:rPr>
              <a:t>Python 3.10 · torch 2.7.1+cu128 · transformers 4.40.1 · SAPIEN 2.2.2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4261103"/>
            <a:ext cx="10454335" cy="7620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462271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Microsoft YaHei"/>
                <a:ea typeface="Microsoft YaHei"/>
              </a:rPr>
              <a:t>结果文件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4462271"/>
            <a:ext cx="816833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01828"/>
                </a:solidFill>
                <a:latin typeface="Microsoft YaHei"/>
                <a:ea typeface="Microsoft YaHei"/>
              </a:rPr>
              <a:t>results/results.csv · episodes.csv · videos/ · train/ · analysis/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4919471"/>
            <a:ext cx="10454335" cy="7620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5120639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Microsoft YaHei"/>
                <a:ea typeface="Microsoft YaHei"/>
              </a:rPr>
              <a:t>报告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5120639"/>
            <a:ext cx="816833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01828"/>
                </a:solidFill>
                <a:latin typeface="Microsoft YaHei"/>
                <a:ea typeface="Microsoft YaHei"/>
              </a:rPr>
              <a:t>report/REPORT.pdf（6 页）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5577839"/>
            <a:ext cx="10454335" cy="7620"/>
          </a:xfrm>
          <a:prstGeom prst="rect">
            <a:avLst/>
          </a:prstGeom>
          <a:solidFill>
            <a:srgbClr val="E4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1589</Words>
  <Application>Microsoft Office PowerPoint</Application>
  <PresentationFormat>宽屏</PresentationFormat>
  <Paragraphs>304</Paragraphs>
  <Slides>15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Microsoft YaHei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Haotian Xu</cp:lastModifiedBy>
  <cp:revision>2</cp:revision>
  <dcterms:created xsi:type="dcterms:W3CDTF">2013-01-27T09:14:16Z</dcterms:created>
  <dcterms:modified xsi:type="dcterms:W3CDTF">2026-10-20T03:06:49Z</dcterms:modified>
  <cp:category/>
</cp:coreProperties>
</file>